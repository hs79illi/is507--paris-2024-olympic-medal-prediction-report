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jE6n2+pHnETVKCQQJzDogdUTWo4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F36FFA3-E092-4B7D-B9CA-1A651B41053F}">
  <a:tblStyle styleId="{0F36FFA3-E092-4B7D-B9CA-1A651B41053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1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h63fe0c536084dcb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h63fe0c536084dcb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h63fe0c536084dcb_0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h63fe0c536084dcb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h63fe0c536084dcb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h63fe0c536084dcb_0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h63fe0c536084dcb_0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h63fe0c536084dcb_0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h63fe0c536084dcb_0_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h63fe0c536084dcb_0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h63fe0c536084dcb_0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h63fe0c536084dcb_0_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h63fe0c536084dcb_0_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h63fe0c536084dcb_0_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h63fe0c536084dcb_0_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h63fe0c536084dcb_0_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h63fe0c536084dcb_0_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h63fe0c536084dcb_0_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h63fe0c536084dcb_0_1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h63fe0c536084dcb_0_1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h63fe0c536084dcb_0_17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h63fe0c536084dcb_0_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h63fe0c536084dcb_0_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h63fe0c536084dcb_0_8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h63fe0c536084dcb_0_1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h63fe0c536084dcb_0_1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h63fe0c536084dcb_0_1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h63fe0c536084dcb_0_1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h63fe0c536084dcb_0_1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h63fe0c536084dcb_0_1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h63fe0c536084dcb_0_1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h63fe0c536084dcb_0_1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h63fe0c536084dcb_0_18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h63fe0c536084dcb_0_1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h63fe0c536084dcb_0_1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h63fe0c536084dcb_0_16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5" name="Google Shape;365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Relationship Id="rId3" Type="http://schemas.openxmlformats.org/officeDocument/2006/relationships/image" Target="../media/image7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7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5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 Slide 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2"/>
          <p:cNvSpPr/>
          <p:nvPr/>
        </p:nvSpPr>
        <p:spPr>
          <a:xfrm>
            <a:off x="2895872" y="1832610"/>
            <a:ext cx="95250" cy="31927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32"/>
          <p:cNvSpPr txBox="1"/>
          <p:nvPr>
            <p:ph type="title"/>
          </p:nvPr>
        </p:nvSpPr>
        <p:spPr>
          <a:xfrm>
            <a:off x="3283131" y="1958297"/>
            <a:ext cx="8569236" cy="16144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2"/>
          <p:cNvSpPr txBox="1"/>
          <p:nvPr>
            <p:ph idx="1" type="body"/>
          </p:nvPr>
        </p:nvSpPr>
        <p:spPr>
          <a:xfrm>
            <a:off x="3285601" y="3489452"/>
            <a:ext cx="8569235" cy="767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32"/>
          <p:cNvSpPr txBox="1"/>
          <p:nvPr>
            <p:ph idx="2" type="body"/>
          </p:nvPr>
        </p:nvSpPr>
        <p:spPr>
          <a:xfrm>
            <a:off x="3285601" y="4257421"/>
            <a:ext cx="8569235" cy="767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 Slide 2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39" y="0"/>
            <a:ext cx="1218072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3"/>
          <p:cNvSpPr/>
          <p:nvPr/>
        </p:nvSpPr>
        <p:spPr>
          <a:xfrm>
            <a:off x="2895872" y="1832610"/>
            <a:ext cx="95250" cy="31927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3"/>
          <p:cNvSpPr txBox="1"/>
          <p:nvPr>
            <p:ph type="title"/>
          </p:nvPr>
        </p:nvSpPr>
        <p:spPr>
          <a:xfrm>
            <a:off x="3283131" y="1958297"/>
            <a:ext cx="8569236" cy="16144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3"/>
          <p:cNvSpPr txBox="1"/>
          <p:nvPr>
            <p:ph idx="1" type="body"/>
          </p:nvPr>
        </p:nvSpPr>
        <p:spPr>
          <a:xfrm>
            <a:off x="3285601" y="3489452"/>
            <a:ext cx="8569235" cy="767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3"/>
          <p:cNvSpPr txBox="1"/>
          <p:nvPr>
            <p:ph idx="2" type="body"/>
          </p:nvPr>
        </p:nvSpPr>
        <p:spPr>
          <a:xfrm>
            <a:off x="3285601" y="4257421"/>
            <a:ext cx="8569235" cy="767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3">
  <p:cSld name="Title Slide 3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466" y="694"/>
            <a:ext cx="12189534" cy="6856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04605" y="277805"/>
            <a:ext cx="529474" cy="764795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34"/>
          <p:cNvSpPr txBox="1"/>
          <p:nvPr>
            <p:ph type="title"/>
          </p:nvPr>
        </p:nvSpPr>
        <p:spPr>
          <a:xfrm>
            <a:off x="0" y="2163545"/>
            <a:ext cx="12189530" cy="1614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4"/>
          <p:cNvSpPr txBox="1"/>
          <p:nvPr>
            <p:ph idx="1" type="body"/>
          </p:nvPr>
        </p:nvSpPr>
        <p:spPr>
          <a:xfrm>
            <a:off x="2471" y="3694701"/>
            <a:ext cx="12189530" cy="7878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34"/>
          <p:cNvSpPr txBox="1"/>
          <p:nvPr>
            <p:ph idx="2" type="body"/>
          </p:nvPr>
        </p:nvSpPr>
        <p:spPr>
          <a:xfrm>
            <a:off x="0" y="4500134"/>
            <a:ext cx="12189530" cy="7878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4">
  <p:cSld name="Title Slide 4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39" y="3172"/>
            <a:ext cx="12180721" cy="68516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98275" y="279019"/>
            <a:ext cx="528575" cy="762367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35"/>
          <p:cNvSpPr txBox="1"/>
          <p:nvPr>
            <p:ph type="title"/>
          </p:nvPr>
        </p:nvSpPr>
        <p:spPr>
          <a:xfrm>
            <a:off x="0" y="2163545"/>
            <a:ext cx="12189530" cy="1614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5"/>
          <p:cNvSpPr txBox="1"/>
          <p:nvPr>
            <p:ph idx="1" type="body"/>
          </p:nvPr>
        </p:nvSpPr>
        <p:spPr>
          <a:xfrm>
            <a:off x="2471" y="3694701"/>
            <a:ext cx="12189530" cy="7878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35"/>
          <p:cNvSpPr txBox="1"/>
          <p:nvPr>
            <p:ph idx="2" type="body"/>
          </p:nvPr>
        </p:nvSpPr>
        <p:spPr>
          <a:xfrm>
            <a:off x="0" y="4500134"/>
            <a:ext cx="12189530" cy="7878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 1">
  <p:cSld name="Section Divider 1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467" y="694"/>
            <a:ext cx="12189532" cy="6856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98275" y="279019"/>
            <a:ext cx="528575" cy="762367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36"/>
          <p:cNvSpPr/>
          <p:nvPr/>
        </p:nvSpPr>
        <p:spPr>
          <a:xfrm>
            <a:off x="1390650" y="1832610"/>
            <a:ext cx="95250" cy="319278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36"/>
          <p:cNvSpPr txBox="1"/>
          <p:nvPr>
            <p:ph type="title"/>
          </p:nvPr>
        </p:nvSpPr>
        <p:spPr>
          <a:xfrm>
            <a:off x="1627542" y="1832610"/>
            <a:ext cx="9470733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6"/>
          <p:cNvSpPr txBox="1"/>
          <p:nvPr>
            <p:ph idx="1" type="body"/>
          </p:nvPr>
        </p:nvSpPr>
        <p:spPr>
          <a:xfrm>
            <a:off x="1627542" y="3603292"/>
            <a:ext cx="9470733" cy="1422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36"/>
          <p:cNvSpPr txBox="1"/>
          <p:nvPr>
            <p:ph idx="2" type="body"/>
          </p:nvPr>
        </p:nvSpPr>
        <p:spPr>
          <a:xfrm>
            <a:off x="457200" y="6356350"/>
            <a:ext cx="8153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 2">
  <p:cSld name="Section Divider 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466" y="694"/>
            <a:ext cx="12189533" cy="6856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04605" y="277805"/>
            <a:ext cx="529474" cy="764795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37"/>
          <p:cNvSpPr/>
          <p:nvPr/>
        </p:nvSpPr>
        <p:spPr>
          <a:xfrm>
            <a:off x="1390650" y="1832610"/>
            <a:ext cx="95250" cy="3192780"/>
          </a:xfrm>
          <a:prstGeom prst="rect">
            <a:avLst/>
          </a:prstGeom>
          <a:solidFill>
            <a:srgbClr val="FF5F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37"/>
          <p:cNvSpPr txBox="1"/>
          <p:nvPr>
            <p:ph type="title"/>
          </p:nvPr>
        </p:nvSpPr>
        <p:spPr>
          <a:xfrm>
            <a:off x="1627542" y="1832610"/>
            <a:ext cx="9470733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7"/>
          <p:cNvSpPr txBox="1"/>
          <p:nvPr>
            <p:ph idx="1" type="body"/>
          </p:nvPr>
        </p:nvSpPr>
        <p:spPr>
          <a:xfrm>
            <a:off x="1627542" y="3603292"/>
            <a:ext cx="9470733" cy="1422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37"/>
          <p:cNvSpPr txBox="1"/>
          <p:nvPr>
            <p:ph idx="2" type="body"/>
          </p:nvPr>
        </p:nvSpPr>
        <p:spPr>
          <a:xfrm>
            <a:off x="457200" y="6356350"/>
            <a:ext cx="8153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 3">
  <p:cSld name="Section Divider 3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466" y="694"/>
            <a:ext cx="12189532" cy="6856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98275" y="279019"/>
            <a:ext cx="528575" cy="762367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38"/>
          <p:cNvSpPr/>
          <p:nvPr/>
        </p:nvSpPr>
        <p:spPr>
          <a:xfrm>
            <a:off x="1390650" y="1832610"/>
            <a:ext cx="95250" cy="319278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38"/>
          <p:cNvSpPr txBox="1"/>
          <p:nvPr>
            <p:ph type="title"/>
          </p:nvPr>
        </p:nvSpPr>
        <p:spPr>
          <a:xfrm>
            <a:off x="1627542" y="1832610"/>
            <a:ext cx="9470733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8"/>
          <p:cNvSpPr txBox="1"/>
          <p:nvPr>
            <p:ph idx="1" type="body"/>
          </p:nvPr>
        </p:nvSpPr>
        <p:spPr>
          <a:xfrm>
            <a:off x="1627542" y="3603292"/>
            <a:ext cx="9470733" cy="1422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38"/>
          <p:cNvSpPr txBox="1"/>
          <p:nvPr>
            <p:ph idx="2" type="body"/>
          </p:nvPr>
        </p:nvSpPr>
        <p:spPr>
          <a:xfrm>
            <a:off x="457200" y="6356350"/>
            <a:ext cx="8153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 4">
  <p:cSld name="Section Divider 4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04605" y="277805"/>
            <a:ext cx="529474" cy="76479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39"/>
          <p:cNvSpPr/>
          <p:nvPr/>
        </p:nvSpPr>
        <p:spPr>
          <a:xfrm>
            <a:off x="1390650" y="1832610"/>
            <a:ext cx="95250" cy="3192780"/>
          </a:xfrm>
          <a:prstGeom prst="rect">
            <a:avLst/>
          </a:prstGeom>
          <a:solidFill>
            <a:srgbClr val="FF5F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9"/>
          <p:cNvSpPr txBox="1"/>
          <p:nvPr>
            <p:ph type="title"/>
          </p:nvPr>
        </p:nvSpPr>
        <p:spPr>
          <a:xfrm>
            <a:off x="1627542" y="1832610"/>
            <a:ext cx="9470733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9"/>
          <p:cNvSpPr txBox="1"/>
          <p:nvPr>
            <p:ph idx="1" type="body"/>
          </p:nvPr>
        </p:nvSpPr>
        <p:spPr>
          <a:xfrm>
            <a:off x="1627542" y="3603292"/>
            <a:ext cx="9470733" cy="1422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39"/>
          <p:cNvSpPr txBox="1"/>
          <p:nvPr>
            <p:ph idx="2" type="body"/>
          </p:nvPr>
        </p:nvSpPr>
        <p:spPr>
          <a:xfrm>
            <a:off x="457200" y="6356350"/>
            <a:ext cx="8153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1">
  <p:cSld name="Transition Slide 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785"/>
            <a:ext cx="12192000" cy="685443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04605" y="277805"/>
            <a:ext cx="529474" cy="76479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40"/>
          <p:cNvSpPr/>
          <p:nvPr/>
        </p:nvSpPr>
        <p:spPr>
          <a:xfrm>
            <a:off x="5455664" y="4159281"/>
            <a:ext cx="1275549" cy="141956"/>
          </a:xfrm>
          <a:prstGeom prst="rect">
            <a:avLst/>
          </a:prstGeom>
          <a:solidFill>
            <a:srgbClr val="FF5F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40"/>
          <p:cNvSpPr txBox="1"/>
          <p:nvPr>
            <p:ph type="title"/>
          </p:nvPr>
        </p:nvSpPr>
        <p:spPr>
          <a:xfrm>
            <a:off x="838200" y="268799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0"/>
          <p:cNvSpPr txBox="1"/>
          <p:nvPr>
            <p:ph idx="1" type="body"/>
          </p:nvPr>
        </p:nvSpPr>
        <p:spPr>
          <a:xfrm>
            <a:off x="457200" y="6356350"/>
            <a:ext cx="8153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2">
  <p:cSld name="Transition Slide 2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467" y="0"/>
            <a:ext cx="12187066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98275" y="277804"/>
            <a:ext cx="528575" cy="764797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41"/>
          <p:cNvSpPr/>
          <p:nvPr/>
        </p:nvSpPr>
        <p:spPr>
          <a:xfrm>
            <a:off x="5455664" y="4159281"/>
            <a:ext cx="1275549" cy="14195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41"/>
          <p:cNvSpPr txBox="1"/>
          <p:nvPr>
            <p:ph type="title"/>
          </p:nvPr>
        </p:nvSpPr>
        <p:spPr>
          <a:xfrm>
            <a:off x="838200" y="268799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41"/>
          <p:cNvSpPr txBox="1"/>
          <p:nvPr>
            <p:ph idx="1" type="body"/>
          </p:nvPr>
        </p:nvSpPr>
        <p:spPr>
          <a:xfrm>
            <a:off x="457200" y="6356350"/>
            <a:ext cx="8153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 1">
  <p:cSld name="Content Slide 1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2"/>
          <p:cNvSpPr/>
          <p:nvPr/>
        </p:nvSpPr>
        <p:spPr>
          <a:xfrm rot="5400000">
            <a:off x="8434" y="823599"/>
            <a:ext cx="1189819" cy="9823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" name="Google Shape;85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14691" y="277804"/>
            <a:ext cx="516232" cy="74566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42"/>
          <p:cNvSpPr/>
          <p:nvPr/>
        </p:nvSpPr>
        <p:spPr>
          <a:xfrm>
            <a:off x="0" y="6245413"/>
            <a:ext cx="12187066" cy="61258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42"/>
          <p:cNvSpPr txBox="1"/>
          <p:nvPr>
            <p:ph type="title"/>
          </p:nvPr>
        </p:nvSpPr>
        <p:spPr>
          <a:xfrm>
            <a:off x="652463" y="276575"/>
            <a:ext cx="10370190" cy="1189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42"/>
          <p:cNvSpPr txBox="1"/>
          <p:nvPr>
            <p:ph idx="1" type="body"/>
          </p:nvPr>
        </p:nvSpPr>
        <p:spPr>
          <a:xfrm>
            <a:off x="652463" y="1795749"/>
            <a:ext cx="10370190" cy="41203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42"/>
          <p:cNvSpPr txBox="1"/>
          <p:nvPr>
            <p:ph idx="2" type="body"/>
          </p:nvPr>
        </p:nvSpPr>
        <p:spPr>
          <a:xfrm>
            <a:off x="457200" y="6356350"/>
            <a:ext cx="8153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 2">
  <p:cSld name="Content Slide 2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3"/>
          <p:cNvSpPr/>
          <p:nvPr/>
        </p:nvSpPr>
        <p:spPr>
          <a:xfrm rot="5400000">
            <a:off x="8434" y="823599"/>
            <a:ext cx="1189819" cy="9823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" name="Google Shape;93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14691" y="277804"/>
            <a:ext cx="516232" cy="745668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43"/>
          <p:cNvSpPr txBox="1"/>
          <p:nvPr>
            <p:ph type="title"/>
          </p:nvPr>
        </p:nvSpPr>
        <p:spPr>
          <a:xfrm>
            <a:off x="652463" y="276575"/>
            <a:ext cx="10370190" cy="1189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43"/>
          <p:cNvSpPr txBox="1"/>
          <p:nvPr>
            <p:ph idx="1" type="body"/>
          </p:nvPr>
        </p:nvSpPr>
        <p:spPr>
          <a:xfrm>
            <a:off x="654228" y="1913536"/>
            <a:ext cx="10370191" cy="76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43"/>
          <p:cNvSpPr txBox="1"/>
          <p:nvPr>
            <p:ph idx="2" type="body"/>
          </p:nvPr>
        </p:nvSpPr>
        <p:spPr>
          <a:xfrm>
            <a:off x="652463" y="2688805"/>
            <a:ext cx="10370190" cy="963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43"/>
          <p:cNvSpPr txBox="1"/>
          <p:nvPr>
            <p:ph idx="3" type="body"/>
          </p:nvPr>
        </p:nvSpPr>
        <p:spPr>
          <a:xfrm>
            <a:off x="654228" y="3957788"/>
            <a:ext cx="10370191" cy="76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43"/>
          <p:cNvSpPr txBox="1"/>
          <p:nvPr>
            <p:ph idx="4" type="body"/>
          </p:nvPr>
        </p:nvSpPr>
        <p:spPr>
          <a:xfrm>
            <a:off x="652463" y="4733057"/>
            <a:ext cx="10370190" cy="963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43"/>
          <p:cNvSpPr/>
          <p:nvPr/>
        </p:nvSpPr>
        <p:spPr>
          <a:xfrm>
            <a:off x="0" y="6245413"/>
            <a:ext cx="12187066" cy="61258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43"/>
          <p:cNvSpPr txBox="1"/>
          <p:nvPr>
            <p:ph idx="5" type="body"/>
          </p:nvPr>
        </p:nvSpPr>
        <p:spPr>
          <a:xfrm>
            <a:off x="457200" y="6356350"/>
            <a:ext cx="8153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 3">
  <p:cSld name="Content Slide 3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14691" y="277804"/>
            <a:ext cx="516232" cy="745668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44"/>
          <p:cNvSpPr/>
          <p:nvPr/>
        </p:nvSpPr>
        <p:spPr>
          <a:xfrm rot="5400000">
            <a:off x="8434" y="823599"/>
            <a:ext cx="1189819" cy="9823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44"/>
          <p:cNvSpPr txBox="1"/>
          <p:nvPr>
            <p:ph type="title"/>
          </p:nvPr>
        </p:nvSpPr>
        <p:spPr>
          <a:xfrm>
            <a:off x="652463" y="276575"/>
            <a:ext cx="10370190" cy="1189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44"/>
          <p:cNvSpPr txBox="1"/>
          <p:nvPr>
            <p:ph idx="1" type="body"/>
          </p:nvPr>
        </p:nvSpPr>
        <p:spPr>
          <a:xfrm>
            <a:off x="654228" y="2009998"/>
            <a:ext cx="4876417" cy="76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44"/>
          <p:cNvSpPr txBox="1"/>
          <p:nvPr>
            <p:ph idx="2" type="body"/>
          </p:nvPr>
        </p:nvSpPr>
        <p:spPr>
          <a:xfrm>
            <a:off x="652463" y="2785267"/>
            <a:ext cx="4876417" cy="2155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p44"/>
          <p:cNvSpPr txBox="1"/>
          <p:nvPr>
            <p:ph idx="3" type="body"/>
          </p:nvPr>
        </p:nvSpPr>
        <p:spPr>
          <a:xfrm>
            <a:off x="6148002" y="2009998"/>
            <a:ext cx="4876417" cy="76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44"/>
          <p:cNvSpPr txBox="1"/>
          <p:nvPr>
            <p:ph idx="4" type="body"/>
          </p:nvPr>
        </p:nvSpPr>
        <p:spPr>
          <a:xfrm>
            <a:off x="6146237" y="2785267"/>
            <a:ext cx="4876417" cy="2155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44"/>
          <p:cNvSpPr/>
          <p:nvPr/>
        </p:nvSpPr>
        <p:spPr>
          <a:xfrm>
            <a:off x="0" y="6245413"/>
            <a:ext cx="12187066" cy="61258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44"/>
          <p:cNvSpPr txBox="1"/>
          <p:nvPr>
            <p:ph idx="5" type="body"/>
          </p:nvPr>
        </p:nvSpPr>
        <p:spPr>
          <a:xfrm>
            <a:off x="457200" y="6356350"/>
            <a:ext cx="8153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 4">
  <p:cSld name="Content Slide 4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5"/>
          <p:cNvSpPr/>
          <p:nvPr/>
        </p:nvSpPr>
        <p:spPr>
          <a:xfrm rot="5400000">
            <a:off x="8434" y="823599"/>
            <a:ext cx="1189819" cy="9823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5" name="Google Shape;115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14691" y="277804"/>
            <a:ext cx="516232" cy="74566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45"/>
          <p:cNvSpPr txBox="1"/>
          <p:nvPr>
            <p:ph type="title"/>
          </p:nvPr>
        </p:nvSpPr>
        <p:spPr>
          <a:xfrm>
            <a:off x="652463" y="276575"/>
            <a:ext cx="10370190" cy="1189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45"/>
          <p:cNvSpPr txBox="1"/>
          <p:nvPr>
            <p:ph idx="1" type="body"/>
          </p:nvPr>
        </p:nvSpPr>
        <p:spPr>
          <a:xfrm>
            <a:off x="654228" y="2009998"/>
            <a:ext cx="4876417" cy="76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45"/>
          <p:cNvSpPr txBox="1"/>
          <p:nvPr>
            <p:ph idx="2" type="body"/>
          </p:nvPr>
        </p:nvSpPr>
        <p:spPr>
          <a:xfrm>
            <a:off x="651081" y="2774950"/>
            <a:ext cx="4876417" cy="2668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o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45"/>
          <p:cNvSpPr txBox="1"/>
          <p:nvPr>
            <p:ph idx="3" type="body"/>
          </p:nvPr>
        </p:nvSpPr>
        <p:spPr>
          <a:xfrm>
            <a:off x="6148002" y="2009998"/>
            <a:ext cx="4876417" cy="76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0" name="Google Shape;120;p45"/>
          <p:cNvSpPr txBox="1"/>
          <p:nvPr>
            <p:ph idx="4" type="body"/>
          </p:nvPr>
        </p:nvSpPr>
        <p:spPr>
          <a:xfrm>
            <a:off x="6144855" y="2774797"/>
            <a:ext cx="4876417" cy="2668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o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p45"/>
          <p:cNvSpPr/>
          <p:nvPr/>
        </p:nvSpPr>
        <p:spPr>
          <a:xfrm>
            <a:off x="0" y="6245413"/>
            <a:ext cx="12187066" cy="61258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45"/>
          <p:cNvSpPr txBox="1"/>
          <p:nvPr>
            <p:ph idx="5" type="body"/>
          </p:nvPr>
        </p:nvSpPr>
        <p:spPr>
          <a:xfrm>
            <a:off x="457200" y="6356350"/>
            <a:ext cx="8153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Slide">
  <p:cSld name="Quote Slide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14691" y="277804"/>
            <a:ext cx="516232" cy="745668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46"/>
          <p:cNvSpPr txBox="1"/>
          <p:nvPr>
            <p:ph type="title"/>
          </p:nvPr>
        </p:nvSpPr>
        <p:spPr>
          <a:xfrm>
            <a:off x="3051180" y="1291652"/>
            <a:ext cx="6189488" cy="807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46"/>
          <p:cNvSpPr txBox="1"/>
          <p:nvPr/>
        </p:nvSpPr>
        <p:spPr>
          <a:xfrm>
            <a:off x="2273810" y="1167968"/>
            <a:ext cx="1184622" cy="13735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600"/>
              <a:buFont typeface="Arial"/>
              <a:buNone/>
            </a:pPr>
            <a:r>
              <a:rPr b="0" i="0" lang="en-US" sz="9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28" name="Google Shape;128;p46"/>
          <p:cNvSpPr txBox="1"/>
          <p:nvPr/>
        </p:nvSpPr>
        <p:spPr>
          <a:xfrm>
            <a:off x="9140821" y="1185256"/>
            <a:ext cx="1184622" cy="13735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600"/>
              <a:buFont typeface="Arial"/>
              <a:buNone/>
            </a:pPr>
            <a:r>
              <a:rPr b="0" i="0" lang="en-US" sz="9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  <p:sp>
        <p:nvSpPr>
          <p:cNvPr id="129" name="Google Shape;129;p46"/>
          <p:cNvSpPr txBox="1"/>
          <p:nvPr>
            <p:ph idx="1" type="body"/>
          </p:nvPr>
        </p:nvSpPr>
        <p:spPr>
          <a:xfrm>
            <a:off x="7127193" y="2116732"/>
            <a:ext cx="2113474" cy="4298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46"/>
          <p:cNvSpPr txBox="1"/>
          <p:nvPr/>
        </p:nvSpPr>
        <p:spPr>
          <a:xfrm>
            <a:off x="2273810" y="3477024"/>
            <a:ext cx="1184622" cy="13735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F05"/>
              </a:buClr>
              <a:buSzPts val="9600"/>
              <a:buFont typeface="Arial"/>
              <a:buNone/>
            </a:pPr>
            <a:r>
              <a:rPr b="0" i="0" lang="en-US" sz="9600" u="none" cap="none" strike="noStrike">
                <a:solidFill>
                  <a:srgbClr val="FF5F05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31" name="Google Shape;131;p46"/>
          <p:cNvSpPr txBox="1"/>
          <p:nvPr/>
        </p:nvSpPr>
        <p:spPr>
          <a:xfrm>
            <a:off x="9088267" y="3494312"/>
            <a:ext cx="1184622" cy="13735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600"/>
              <a:buFont typeface="Arial"/>
              <a:buNone/>
            </a:pPr>
            <a:r>
              <a:rPr b="0" i="0" lang="en-US" sz="9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  <p:sp>
        <p:nvSpPr>
          <p:cNvPr id="132" name="Google Shape;132;p46"/>
          <p:cNvSpPr txBox="1"/>
          <p:nvPr>
            <p:ph idx="2" type="body"/>
          </p:nvPr>
        </p:nvSpPr>
        <p:spPr>
          <a:xfrm>
            <a:off x="3060741" y="3501730"/>
            <a:ext cx="6179926" cy="1507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3" name="Google Shape;133;p46"/>
          <p:cNvSpPr txBox="1"/>
          <p:nvPr>
            <p:ph idx="3" type="body"/>
          </p:nvPr>
        </p:nvSpPr>
        <p:spPr>
          <a:xfrm>
            <a:off x="7127193" y="5065124"/>
            <a:ext cx="2113474" cy="4298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4" name="Google Shape;134;p46"/>
          <p:cNvSpPr/>
          <p:nvPr/>
        </p:nvSpPr>
        <p:spPr>
          <a:xfrm>
            <a:off x="0" y="6245413"/>
            <a:ext cx="12187066" cy="61258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46"/>
          <p:cNvSpPr txBox="1"/>
          <p:nvPr>
            <p:ph idx="4" type="body"/>
          </p:nvPr>
        </p:nvSpPr>
        <p:spPr>
          <a:xfrm>
            <a:off x="457200" y="6356350"/>
            <a:ext cx="8153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6" name="Google Shape;136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1">
  <p:cSld name="Image Slide 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7"/>
          <p:cNvSpPr/>
          <p:nvPr/>
        </p:nvSpPr>
        <p:spPr>
          <a:xfrm rot="5400000">
            <a:off x="8434" y="823599"/>
            <a:ext cx="1189819" cy="9823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" name="Google Shape;139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14691" y="277804"/>
            <a:ext cx="516232" cy="745668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47"/>
          <p:cNvSpPr txBox="1"/>
          <p:nvPr>
            <p:ph type="title"/>
          </p:nvPr>
        </p:nvSpPr>
        <p:spPr>
          <a:xfrm>
            <a:off x="652463" y="276575"/>
            <a:ext cx="10370190" cy="1189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47"/>
          <p:cNvSpPr/>
          <p:nvPr>
            <p:ph idx="2" type="pic"/>
          </p:nvPr>
        </p:nvSpPr>
        <p:spPr>
          <a:xfrm>
            <a:off x="554038" y="1786687"/>
            <a:ext cx="4738687" cy="2042930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142" name="Google Shape;142;p47"/>
          <p:cNvSpPr txBox="1"/>
          <p:nvPr>
            <p:ph idx="1" type="body"/>
          </p:nvPr>
        </p:nvSpPr>
        <p:spPr>
          <a:xfrm>
            <a:off x="5477348" y="1786687"/>
            <a:ext cx="5547072" cy="76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3" name="Google Shape;143;p47"/>
          <p:cNvSpPr txBox="1"/>
          <p:nvPr>
            <p:ph idx="3" type="body"/>
          </p:nvPr>
        </p:nvSpPr>
        <p:spPr>
          <a:xfrm>
            <a:off x="5475583" y="2561957"/>
            <a:ext cx="5547072" cy="1267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4" name="Google Shape;144;p47"/>
          <p:cNvSpPr/>
          <p:nvPr>
            <p:ph idx="4" type="pic"/>
          </p:nvPr>
        </p:nvSpPr>
        <p:spPr>
          <a:xfrm>
            <a:off x="552273" y="3924115"/>
            <a:ext cx="4738687" cy="2042930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145" name="Google Shape;145;p47"/>
          <p:cNvSpPr txBox="1"/>
          <p:nvPr>
            <p:ph idx="5" type="body"/>
          </p:nvPr>
        </p:nvSpPr>
        <p:spPr>
          <a:xfrm>
            <a:off x="5475583" y="3924115"/>
            <a:ext cx="5547072" cy="76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47"/>
          <p:cNvSpPr txBox="1"/>
          <p:nvPr>
            <p:ph idx="6" type="body"/>
          </p:nvPr>
        </p:nvSpPr>
        <p:spPr>
          <a:xfrm>
            <a:off x="5473818" y="4699385"/>
            <a:ext cx="5547072" cy="1267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7" name="Google Shape;147;p47"/>
          <p:cNvSpPr/>
          <p:nvPr/>
        </p:nvSpPr>
        <p:spPr>
          <a:xfrm>
            <a:off x="0" y="6245413"/>
            <a:ext cx="12187066" cy="61258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47"/>
          <p:cNvSpPr txBox="1"/>
          <p:nvPr>
            <p:ph idx="7" type="body"/>
          </p:nvPr>
        </p:nvSpPr>
        <p:spPr>
          <a:xfrm>
            <a:off x="457200" y="6356350"/>
            <a:ext cx="8153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9" name="Google Shape;149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2">
  <p:cSld name="Image Slide 2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8"/>
          <p:cNvSpPr/>
          <p:nvPr/>
        </p:nvSpPr>
        <p:spPr>
          <a:xfrm rot="5400000">
            <a:off x="8434" y="823599"/>
            <a:ext cx="1189819" cy="98238"/>
          </a:xfrm>
          <a:prstGeom prst="rect">
            <a:avLst/>
          </a:prstGeom>
          <a:solidFill>
            <a:srgbClr val="FF5F0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2" name="Google Shape;152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14691" y="277804"/>
            <a:ext cx="516232" cy="745668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48"/>
          <p:cNvSpPr txBox="1"/>
          <p:nvPr>
            <p:ph type="title"/>
          </p:nvPr>
        </p:nvSpPr>
        <p:spPr>
          <a:xfrm>
            <a:off x="652463" y="276575"/>
            <a:ext cx="10370190" cy="1189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48"/>
          <p:cNvSpPr txBox="1"/>
          <p:nvPr>
            <p:ph idx="1" type="body"/>
          </p:nvPr>
        </p:nvSpPr>
        <p:spPr>
          <a:xfrm>
            <a:off x="654228" y="1786687"/>
            <a:ext cx="5547072" cy="76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5" name="Google Shape;155;p48"/>
          <p:cNvSpPr txBox="1"/>
          <p:nvPr>
            <p:ph idx="2" type="body"/>
          </p:nvPr>
        </p:nvSpPr>
        <p:spPr>
          <a:xfrm>
            <a:off x="652463" y="2561957"/>
            <a:ext cx="5547072" cy="1267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6" name="Google Shape;156;p48"/>
          <p:cNvSpPr/>
          <p:nvPr>
            <p:ph idx="3" type="pic"/>
          </p:nvPr>
        </p:nvSpPr>
        <p:spPr>
          <a:xfrm>
            <a:off x="6282203" y="1786687"/>
            <a:ext cx="4738687" cy="2042930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157" name="Google Shape;157;p48"/>
          <p:cNvSpPr txBox="1"/>
          <p:nvPr>
            <p:ph idx="4" type="body"/>
          </p:nvPr>
        </p:nvSpPr>
        <p:spPr>
          <a:xfrm>
            <a:off x="652463" y="3924115"/>
            <a:ext cx="5547072" cy="76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8" name="Google Shape;158;p48"/>
          <p:cNvSpPr txBox="1"/>
          <p:nvPr>
            <p:ph idx="5" type="body"/>
          </p:nvPr>
        </p:nvSpPr>
        <p:spPr>
          <a:xfrm>
            <a:off x="650698" y="4699385"/>
            <a:ext cx="5547072" cy="1267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9" name="Google Shape;159;p48"/>
          <p:cNvSpPr/>
          <p:nvPr>
            <p:ph idx="6" type="pic"/>
          </p:nvPr>
        </p:nvSpPr>
        <p:spPr>
          <a:xfrm>
            <a:off x="6280438" y="3924115"/>
            <a:ext cx="4738687" cy="2042930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160" name="Google Shape;160;p48"/>
          <p:cNvSpPr/>
          <p:nvPr/>
        </p:nvSpPr>
        <p:spPr>
          <a:xfrm>
            <a:off x="0" y="6245413"/>
            <a:ext cx="12187066" cy="61258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48"/>
          <p:cNvSpPr txBox="1"/>
          <p:nvPr>
            <p:ph idx="7" type="body"/>
          </p:nvPr>
        </p:nvSpPr>
        <p:spPr>
          <a:xfrm>
            <a:off x="457200" y="6356350"/>
            <a:ext cx="8153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2" name="Google Shape;162;p4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3">
  <p:cSld name="Image Slide 3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14691" y="277804"/>
            <a:ext cx="516232" cy="745668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49"/>
          <p:cNvSpPr/>
          <p:nvPr/>
        </p:nvSpPr>
        <p:spPr>
          <a:xfrm rot="5400000">
            <a:off x="8434" y="823599"/>
            <a:ext cx="1189819" cy="9823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49"/>
          <p:cNvSpPr txBox="1"/>
          <p:nvPr>
            <p:ph type="title"/>
          </p:nvPr>
        </p:nvSpPr>
        <p:spPr>
          <a:xfrm>
            <a:off x="652463" y="276575"/>
            <a:ext cx="10370190" cy="1189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49"/>
          <p:cNvSpPr/>
          <p:nvPr>
            <p:ph idx="2" type="pic"/>
          </p:nvPr>
        </p:nvSpPr>
        <p:spPr>
          <a:xfrm>
            <a:off x="554038" y="1786687"/>
            <a:ext cx="4738687" cy="4322200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168" name="Google Shape;168;p49"/>
          <p:cNvSpPr txBox="1"/>
          <p:nvPr>
            <p:ph idx="1" type="body"/>
          </p:nvPr>
        </p:nvSpPr>
        <p:spPr>
          <a:xfrm>
            <a:off x="5477348" y="2717104"/>
            <a:ext cx="5547072" cy="76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9" name="Google Shape;169;p49"/>
          <p:cNvSpPr txBox="1"/>
          <p:nvPr>
            <p:ph idx="3" type="body"/>
          </p:nvPr>
        </p:nvSpPr>
        <p:spPr>
          <a:xfrm>
            <a:off x="5475583" y="3492374"/>
            <a:ext cx="5547072" cy="1267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0" name="Google Shape;170;p49"/>
          <p:cNvSpPr/>
          <p:nvPr/>
        </p:nvSpPr>
        <p:spPr>
          <a:xfrm>
            <a:off x="0" y="6245413"/>
            <a:ext cx="12187066" cy="61258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49"/>
          <p:cNvSpPr txBox="1"/>
          <p:nvPr>
            <p:ph idx="4" type="body"/>
          </p:nvPr>
        </p:nvSpPr>
        <p:spPr>
          <a:xfrm>
            <a:off x="457200" y="6356350"/>
            <a:ext cx="8153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2" name="Google Shape;172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4">
  <p:cSld name="Image Slide 4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0"/>
          <p:cNvSpPr/>
          <p:nvPr/>
        </p:nvSpPr>
        <p:spPr>
          <a:xfrm rot="5400000">
            <a:off x="8434" y="823599"/>
            <a:ext cx="1189819" cy="9823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5" name="Google Shape;175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15372" y="277803"/>
            <a:ext cx="516232" cy="745668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50"/>
          <p:cNvSpPr txBox="1"/>
          <p:nvPr>
            <p:ph type="title"/>
          </p:nvPr>
        </p:nvSpPr>
        <p:spPr>
          <a:xfrm>
            <a:off x="652463" y="276575"/>
            <a:ext cx="10370190" cy="1189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50"/>
          <p:cNvSpPr txBox="1"/>
          <p:nvPr>
            <p:ph idx="1" type="body"/>
          </p:nvPr>
        </p:nvSpPr>
        <p:spPr>
          <a:xfrm>
            <a:off x="652463" y="2717104"/>
            <a:ext cx="5547072" cy="76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8" name="Google Shape;178;p50"/>
          <p:cNvSpPr txBox="1"/>
          <p:nvPr>
            <p:ph idx="2" type="body"/>
          </p:nvPr>
        </p:nvSpPr>
        <p:spPr>
          <a:xfrm>
            <a:off x="650698" y="3492374"/>
            <a:ext cx="5547072" cy="1267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9" name="Google Shape;179;p50"/>
          <p:cNvSpPr/>
          <p:nvPr>
            <p:ph idx="3" type="pic"/>
          </p:nvPr>
        </p:nvSpPr>
        <p:spPr>
          <a:xfrm>
            <a:off x="6283968" y="1786687"/>
            <a:ext cx="4738687" cy="4322200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180" name="Google Shape;180;p50"/>
          <p:cNvSpPr/>
          <p:nvPr/>
        </p:nvSpPr>
        <p:spPr>
          <a:xfrm>
            <a:off x="0" y="6245413"/>
            <a:ext cx="12187066" cy="61258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50"/>
          <p:cNvSpPr txBox="1"/>
          <p:nvPr>
            <p:ph idx="4" type="body"/>
          </p:nvPr>
        </p:nvSpPr>
        <p:spPr>
          <a:xfrm>
            <a:off x="457200" y="6356350"/>
            <a:ext cx="8153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2" name="Google Shape;182;p5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5">
  <p:cSld name="Image Slide 5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1"/>
          <p:cNvSpPr/>
          <p:nvPr/>
        </p:nvSpPr>
        <p:spPr>
          <a:xfrm rot="5400000">
            <a:off x="8434" y="823599"/>
            <a:ext cx="1189819" cy="9823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51"/>
          <p:cNvSpPr txBox="1"/>
          <p:nvPr>
            <p:ph idx="1" type="body"/>
          </p:nvPr>
        </p:nvSpPr>
        <p:spPr>
          <a:xfrm>
            <a:off x="654228" y="277803"/>
            <a:ext cx="10370191" cy="1189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86" name="Google Shape;186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14691" y="277804"/>
            <a:ext cx="516232" cy="745668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51"/>
          <p:cNvSpPr/>
          <p:nvPr>
            <p:ph idx="2" type="pic"/>
          </p:nvPr>
        </p:nvSpPr>
        <p:spPr>
          <a:xfrm>
            <a:off x="650698" y="1578560"/>
            <a:ext cx="10371957" cy="3875254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188" name="Google Shape;188;p51"/>
          <p:cNvSpPr txBox="1"/>
          <p:nvPr>
            <p:ph idx="3" type="body"/>
          </p:nvPr>
        </p:nvSpPr>
        <p:spPr>
          <a:xfrm>
            <a:off x="654689" y="5590340"/>
            <a:ext cx="10367965" cy="612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9" name="Google Shape;189;p51"/>
          <p:cNvSpPr/>
          <p:nvPr/>
        </p:nvSpPr>
        <p:spPr>
          <a:xfrm>
            <a:off x="0" y="6245413"/>
            <a:ext cx="12187066" cy="61258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51"/>
          <p:cNvSpPr txBox="1"/>
          <p:nvPr>
            <p:ph idx="4" type="body"/>
          </p:nvPr>
        </p:nvSpPr>
        <p:spPr>
          <a:xfrm>
            <a:off x="457200" y="6356350"/>
            <a:ext cx="8153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1" name="Google Shape;191;p5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6">
  <p:cSld name="Image Slide 6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52"/>
          <p:cNvSpPr txBox="1"/>
          <p:nvPr>
            <p:ph idx="1" type="body"/>
          </p:nvPr>
        </p:nvSpPr>
        <p:spPr>
          <a:xfrm>
            <a:off x="7679104" y="2391179"/>
            <a:ext cx="4187900" cy="76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4" name="Google Shape;194;p52"/>
          <p:cNvSpPr txBox="1"/>
          <p:nvPr>
            <p:ph idx="2" type="body"/>
          </p:nvPr>
        </p:nvSpPr>
        <p:spPr>
          <a:xfrm>
            <a:off x="7677339" y="3166449"/>
            <a:ext cx="4187900" cy="1267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5" name="Google Shape;195;p52"/>
          <p:cNvSpPr/>
          <p:nvPr/>
        </p:nvSpPr>
        <p:spPr>
          <a:xfrm>
            <a:off x="0" y="6245413"/>
            <a:ext cx="12187066" cy="61258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52"/>
          <p:cNvSpPr txBox="1"/>
          <p:nvPr>
            <p:ph idx="3" type="body"/>
          </p:nvPr>
        </p:nvSpPr>
        <p:spPr>
          <a:xfrm>
            <a:off x="457200" y="6356350"/>
            <a:ext cx="8153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7" name="Google Shape;197;p5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7">
  <p:cSld name="Image Slide 7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14691" y="277804"/>
            <a:ext cx="516232" cy="745668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53"/>
          <p:cNvSpPr txBox="1"/>
          <p:nvPr>
            <p:ph idx="1" type="body"/>
          </p:nvPr>
        </p:nvSpPr>
        <p:spPr>
          <a:xfrm>
            <a:off x="2248247" y="4070491"/>
            <a:ext cx="7695506" cy="76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1" name="Google Shape;201;p53"/>
          <p:cNvSpPr txBox="1"/>
          <p:nvPr>
            <p:ph idx="2" type="body"/>
          </p:nvPr>
        </p:nvSpPr>
        <p:spPr>
          <a:xfrm>
            <a:off x="2248247" y="4980067"/>
            <a:ext cx="7695506" cy="612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2" name="Google Shape;202;p53"/>
          <p:cNvSpPr txBox="1"/>
          <p:nvPr>
            <p:ph idx="3" type="body"/>
          </p:nvPr>
        </p:nvSpPr>
        <p:spPr>
          <a:xfrm>
            <a:off x="457200" y="6356350"/>
            <a:ext cx="8153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3" name="Google Shape;203;p5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 Slide 1">
  <p:cSld name="Graph Slide 1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54"/>
          <p:cNvSpPr/>
          <p:nvPr/>
        </p:nvSpPr>
        <p:spPr>
          <a:xfrm rot="5400000">
            <a:off x="8434" y="823599"/>
            <a:ext cx="1189819" cy="9823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6" name="Google Shape;206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14691" y="277804"/>
            <a:ext cx="516232" cy="745669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54"/>
          <p:cNvSpPr txBox="1"/>
          <p:nvPr>
            <p:ph type="title"/>
          </p:nvPr>
        </p:nvSpPr>
        <p:spPr>
          <a:xfrm>
            <a:off x="652463" y="276575"/>
            <a:ext cx="10370190" cy="1189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54"/>
          <p:cNvSpPr/>
          <p:nvPr>
            <p:ph idx="2" type="chart"/>
          </p:nvPr>
        </p:nvSpPr>
        <p:spPr>
          <a:xfrm>
            <a:off x="1430338" y="1747838"/>
            <a:ext cx="9134475" cy="4360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9" name="Google Shape;209;p54"/>
          <p:cNvSpPr/>
          <p:nvPr/>
        </p:nvSpPr>
        <p:spPr>
          <a:xfrm>
            <a:off x="0" y="6245413"/>
            <a:ext cx="12187066" cy="61258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54"/>
          <p:cNvSpPr txBox="1"/>
          <p:nvPr>
            <p:ph idx="1" type="body"/>
          </p:nvPr>
        </p:nvSpPr>
        <p:spPr>
          <a:xfrm>
            <a:off x="457200" y="6356350"/>
            <a:ext cx="8153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1" name="Google Shape;211;p5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 1">
  <p:cSld name="Thank You Slide 1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785"/>
            <a:ext cx="12192000" cy="685443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55"/>
          <p:cNvSpPr txBox="1"/>
          <p:nvPr>
            <p:ph type="title"/>
          </p:nvPr>
        </p:nvSpPr>
        <p:spPr>
          <a:xfrm>
            <a:off x="1610698" y="823864"/>
            <a:ext cx="8981220" cy="1107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55"/>
          <p:cNvSpPr/>
          <p:nvPr/>
        </p:nvSpPr>
        <p:spPr>
          <a:xfrm>
            <a:off x="5455664" y="1930911"/>
            <a:ext cx="1275549" cy="141956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6" name="Google Shape;216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04605" y="277805"/>
            <a:ext cx="529474" cy="76479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55"/>
          <p:cNvSpPr txBox="1"/>
          <p:nvPr>
            <p:ph idx="1" type="body"/>
          </p:nvPr>
        </p:nvSpPr>
        <p:spPr>
          <a:xfrm>
            <a:off x="1610697" y="2328261"/>
            <a:ext cx="8981219" cy="22014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8" name="Google Shape;218;p55"/>
          <p:cNvSpPr txBox="1"/>
          <p:nvPr>
            <p:ph idx="2" type="body"/>
          </p:nvPr>
        </p:nvSpPr>
        <p:spPr>
          <a:xfrm>
            <a:off x="1610697" y="4952165"/>
            <a:ext cx="8981219" cy="7967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9" name="Google Shape;219;p55"/>
          <p:cNvSpPr txBox="1"/>
          <p:nvPr>
            <p:ph idx="3" type="body"/>
          </p:nvPr>
        </p:nvSpPr>
        <p:spPr>
          <a:xfrm>
            <a:off x="457200" y="6356350"/>
            <a:ext cx="8153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0" name="Google Shape;220;p5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 2">
  <p:cSld name="Thank You Slide 2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467" y="0"/>
            <a:ext cx="1218706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56"/>
          <p:cNvSpPr txBox="1"/>
          <p:nvPr>
            <p:ph type="title"/>
          </p:nvPr>
        </p:nvSpPr>
        <p:spPr>
          <a:xfrm>
            <a:off x="1610698" y="823864"/>
            <a:ext cx="8981220" cy="1107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56"/>
          <p:cNvSpPr/>
          <p:nvPr/>
        </p:nvSpPr>
        <p:spPr>
          <a:xfrm>
            <a:off x="5455664" y="1930911"/>
            <a:ext cx="1275549" cy="14195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5" name="Google Shape;225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98275" y="277804"/>
            <a:ext cx="528575" cy="764797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56"/>
          <p:cNvSpPr txBox="1"/>
          <p:nvPr>
            <p:ph idx="1" type="body"/>
          </p:nvPr>
        </p:nvSpPr>
        <p:spPr>
          <a:xfrm>
            <a:off x="1610697" y="2328261"/>
            <a:ext cx="8981219" cy="22014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7" name="Google Shape;227;p56"/>
          <p:cNvSpPr txBox="1"/>
          <p:nvPr>
            <p:ph idx="2" type="body"/>
          </p:nvPr>
        </p:nvSpPr>
        <p:spPr>
          <a:xfrm>
            <a:off x="1610697" y="4952165"/>
            <a:ext cx="8981219" cy="7967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8" name="Google Shape;228;p56"/>
          <p:cNvSpPr txBox="1"/>
          <p:nvPr>
            <p:ph idx="3" type="body"/>
          </p:nvPr>
        </p:nvSpPr>
        <p:spPr>
          <a:xfrm>
            <a:off x="457200" y="6356350"/>
            <a:ext cx="8153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9" name="Google Shape;229;p5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Art 1">
  <p:cSld name="Closing Art 1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785"/>
            <a:ext cx="12192000" cy="68544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Art 2">
  <p:cSld name="Closing Art 2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467" y="0"/>
            <a:ext cx="12187066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Art 3">
  <p:cSld name="Closing Art 3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466" y="694"/>
            <a:ext cx="12189533" cy="6856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Art 4">
  <p:cSld name="Closing Art 4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39" y="3172"/>
            <a:ext cx="12180721" cy="68516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0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kaggle.com/datasets/berkayalan/paris-2024-olympics-medals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ww.kaggle.com/datasets/heesoo37/120-years-of-olympic-history-athletes-and-results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"/>
          <p:cNvSpPr txBox="1"/>
          <p:nvPr>
            <p:ph type="title"/>
          </p:nvPr>
        </p:nvSpPr>
        <p:spPr>
          <a:xfrm>
            <a:off x="3283131" y="1958297"/>
            <a:ext cx="8569236" cy="16144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b="1" lang="en-US" sz="48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Predicting Olympic Medal Success: Paris 2024</a:t>
            </a:r>
            <a:endParaRPr b="1" sz="48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" name="Google Shape;244;p1"/>
          <p:cNvSpPr txBox="1"/>
          <p:nvPr>
            <p:ph idx="1" type="body"/>
          </p:nvPr>
        </p:nvSpPr>
        <p:spPr>
          <a:xfrm>
            <a:off x="3283139" y="4677352"/>
            <a:ext cx="85692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Done by Pranav, Pritha and Harinath 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5" name="Google Shape;245;p1"/>
          <p:cNvSpPr txBox="1"/>
          <p:nvPr/>
        </p:nvSpPr>
        <p:spPr>
          <a:xfrm>
            <a:off x="5504200" y="3499300"/>
            <a:ext cx="41271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507</a:t>
            </a:r>
            <a:endParaRPr sz="2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1"/>
          <p:cNvSpPr txBox="1"/>
          <p:nvPr>
            <p:ph type="title"/>
          </p:nvPr>
        </p:nvSpPr>
        <p:spPr>
          <a:xfrm>
            <a:off x="652463" y="276575"/>
            <a:ext cx="10370190" cy="1189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rPr b="1" lang="en-US" sz="2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Motivation: Why This Problem?</a:t>
            </a:r>
            <a:endParaRPr b="1" sz="24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" name="Google Shape;252;p11"/>
          <p:cNvSpPr txBox="1"/>
          <p:nvPr>
            <p:ph idx="1" type="body"/>
          </p:nvPr>
        </p:nvSpPr>
        <p:spPr>
          <a:xfrm>
            <a:off x="652476" y="1795750"/>
            <a:ext cx="11177700" cy="41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Olympic medals represent </a:t>
            </a:r>
            <a:r>
              <a:rPr lang="en-US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exceptional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athletic achievement, but predicting winners is </a:t>
            </a:r>
            <a:r>
              <a:rPr lang="en-US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difficult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Medal success depends on </a:t>
            </a:r>
            <a:r>
              <a:rPr lang="en-US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several factors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, including athlete characteristics, sport, and national representation.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Machine learning provides an opportunity to </a:t>
            </a:r>
            <a:r>
              <a:rPr lang="en-US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examine patterns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associated with medal success.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This project also explores the </a:t>
            </a:r>
            <a:r>
              <a:rPr lang="en-US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challenge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of </a:t>
            </a:r>
            <a:r>
              <a:rPr lang="en-US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predicting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relatively rare outcomes.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" name="Google Shape;25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h63fe0c536084dcb_0_3"/>
          <p:cNvSpPr txBox="1"/>
          <p:nvPr>
            <p:ph type="title"/>
          </p:nvPr>
        </p:nvSpPr>
        <p:spPr>
          <a:xfrm>
            <a:off x="652463" y="276575"/>
            <a:ext cx="10370100" cy="1189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Question </a:t>
            </a:r>
            <a:endParaRPr b="1" sz="24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0" name="Google Shape;260;h63fe0c536084dcb_0_3"/>
          <p:cNvSpPr txBox="1"/>
          <p:nvPr>
            <p:ph idx="1" type="body"/>
          </p:nvPr>
        </p:nvSpPr>
        <p:spPr>
          <a:xfrm>
            <a:off x="910938" y="1851262"/>
            <a:ext cx="10370100" cy="412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3100">
                <a:solidFill>
                  <a:srgbClr val="1329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we predict whether an athlete will win an Olympic medal based on their characteristics and event information?</a:t>
            </a:r>
            <a:r>
              <a:rPr i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0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”</a:t>
            </a:r>
            <a:endParaRPr sz="40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1" name="Google Shape;261;h63fe0c536084dcb_0_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h63fe0c536084dcb_0_13"/>
          <p:cNvSpPr txBox="1"/>
          <p:nvPr>
            <p:ph type="title"/>
          </p:nvPr>
        </p:nvSpPr>
        <p:spPr>
          <a:xfrm>
            <a:off x="910938" y="276575"/>
            <a:ext cx="10370100" cy="1189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Potential impact</a:t>
            </a:r>
            <a:endParaRPr b="1" sz="24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8" name="Google Shape;268;h63fe0c536084dcb_0_13"/>
          <p:cNvSpPr txBox="1"/>
          <p:nvPr>
            <p:ph idx="1" type="body"/>
          </p:nvPr>
        </p:nvSpPr>
        <p:spPr>
          <a:xfrm>
            <a:off x="910938" y="1575324"/>
            <a:ext cx="10370100" cy="412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Identify factors associated with medal-winning performance.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Help sports analysts understand patterns in athletic success.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Support data-informed decisions by sports organizations.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Provide a foundation for predicting outcomes at future Olympic Games.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9" name="Google Shape;269;h63fe0c536084dcb_0_1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h63fe0c536084dcb_0_22"/>
          <p:cNvSpPr txBox="1"/>
          <p:nvPr>
            <p:ph type="title"/>
          </p:nvPr>
        </p:nvSpPr>
        <p:spPr>
          <a:xfrm>
            <a:off x="652463" y="276575"/>
            <a:ext cx="10370100" cy="1189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Formal Prediction Problem: X, Y, and Loss</a:t>
            </a:r>
            <a:endParaRPr b="1" sz="24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6" name="Google Shape;276;h63fe0c536084dcb_0_2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277" name="Google Shape;277;h63fe0c536084dcb_0_22"/>
          <p:cNvGraphicFramePr/>
          <p:nvPr/>
        </p:nvGraphicFramePr>
        <p:xfrm>
          <a:off x="952500" y="179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{0F36FFA3-E092-4B7D-B9CA-1A651B41053F}</a:tableStyleId>
              </a:tblPr>
              <a:tblGrid>
                <a:gridCol w="5143500"/>
                <a:gridCol w="5143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2"/>
                          </a:solidFill>
                          <a:highlight>
                            <a:srgbClr val="BFBFB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Component</a:t>
                      </a:r>
                      <a:endParaRPr b="1" sz="2000">
                        <a:solidFill>
                          <a:schemeClr val="lt2"/>
                        </a:solidFill>
                        <a:highlight>
                          <a:srgbClr val="BFBFB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2"/>
                          </a:solidFill>
                          <a:highlight>
                            <a:srgbClr val="BFBFB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Definition</a:t>
                      </a:r>
                      <a:endParaRPr b="1" sz="2000">
                        <a:solidFill>
                          <a:schemeClr val="lt2"/>
                        </a:solidFill>
                        <a:highlight>
                          <a:srgbClr val="BFBFB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BFBFB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20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Problem type</a:t>
                      </a:r>
                      <a:endParaRPr sz="200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20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Binary classification</a:t>
                      </a:r>
                      <a:endParaRPr sz="200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20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(inputs)</a:t>
                      </a:r>
                      <a:endParaRPr sz="200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20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Age, gender, height, weight, country, sport, team-event status</a:t>
                      </a:r>
                      <a:endParaRPr sz="200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20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 (target)</a:t>
                      </a:r>
                      <a:endParaRPr sz="200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20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Medal won (1) or no medal (0)</a:t>
                      </a:r>
                      <a:endParaRPr sz="200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20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Loss function</a:t>
                      </a:r>
                      <a:endParaRPr sz="200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20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Binary cross-entropy / log loss</a:t>
                      </a:r>
                      <a:endParaRPr sz="200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20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Evaluation</a:t>
                      </a:r>
                      <a:endParaRPr sz="200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20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PR-AUC, precision, recall, F1-score</a:t>
                      </a:r>
                      <a:endParaRPr sz="200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h63fe0c536084dcb_0_34"/>
          <p:cNvSpPr txBox="1"/>
          <p:nvPr>
            <p:ph type="title"/>
          </p:nvPr>
        </p:nvSpPr>
        <p:spPr>
          <a:xfrm>
            <a:off x="652463" y="276575"/>
            <a:ext cx="10370100" cy="1189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Source and Feasibility</a:t>
            </a:r>
            <a:endParaRPr b="1" sz="24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4" name="Google Shape;284;h63fe0c536084dcb_0_34"/>
          <p:cNvSpPr txBox="1"/>
          <p:nvPr>
            <p:ph idx="1" type="body"/>
          </p:nvPr>
        </p:nvSpPr>
        <p:spPr>
          <a:xfrm>
            <a:off x="745950" y="1466375"/>
            <a:ext cx="10700100" cy="4558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Primary dataset: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Paris 2024 Olympics Medals — Kaggle</a:t>
            </a:r>
            <a:endParaRPr u="sng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u="sng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Focuses on medal results from the Paris 2024 Olympics.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a starting point for analyzing Olympic medal success.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Additional athlete-level participation data may be needed.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Exact number of rows, columns, and missing values must be verified.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h63fe0c536084dcb_0_3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h63fe0c536084dcb_0_46"/>
          <p:cNvSpPr txBox="1"/>
          <p:nvPr>
            <p:ph type="title"/>
          </p:nvPr>
        </p:nvSpPr>
        <p:spPr>
          <a:xfrm>
            <a:off x="652463" y="276575"/>
            <a:ext cx="10370100" cy="1189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Does the Data Look Like?</a:t>
            </a:r>
            <a:endParaRPr b="1" sz="24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2" name="Google Shape;292;h63fe0c536084dcb_0_46"/>
          <p:cNvSpPr txBox="1"/>
          <p:nvPr>
            <p:ph idx="2" type="body"/>
          </p:nvPr>
        </p:nvSpPr>
        <p:spPr>
          <a:xfrm>
            <a:off x="2202150" y="5812875"/>
            <a:ext cx="8153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planned modeling dataset will contain one row per athlete.</a:t>
            </a:r>
            <a:endParaRPr sz="14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3" name="Google Shape;293;h63fe0c536084dcb_0_4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294" name="Google Shape;294;h63fe0c536084dcb_0_46"/>
          <p:cNvGraphicFramePr/>
          <p:nvPr/>
        </p:nvGraphicFramePr>
        <p:xfrm>
          <a:off x="952500" y="156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{0F36FFA3-E092-4B7D-B9CA-1A651B41053F}</a:tableStyleId>
              </a:tblPr>
              <a:tblGrid>
                <a:gridCol w="3429000"/>
                <a:gridCol w="3429000"/>
                <a:gridCol w="3429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Feature</a:t>
                      </a:r>
                      <a:endParaRPr b="1" sz="2000">
                        <a:solidFill>
                          <a:schemeClr val="lt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 type</a:t>
                      </a:r>
                      <a:endParaRPr b="1" sz="2000">
                        <a:solidFill>
                          <a:schemeClr val="lt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Example</a:t>
                      </a:r>
                      <a:endParaRPr b="1" sz="2000">
                        <a:solidFill>
                          <a:schemeClr val="lt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BFBFB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8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Age</a:t>
                      </a:r>
                      <a:endParaRPr sz="180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8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Numerical</a:t>
                      </a:r>
                      <a:endParaRPr sz="180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8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</a:t>
                      </a:r>
                      <a:endParaRPr sz="180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8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Gender</a:t>
                      </a:r>
                      <a:endParaRPr sz="180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8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Categorical</a:t>
                      </a:r>
                      <a:endParaRPr sz="180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8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Female</a:t>
                      </a:r>
                      <a:endParaRPr sz="180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8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Height</a:t>
                      </a:r>
                      <a:endParaRPr sz="180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8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Numerical</a:t>
                      </a:r>
                      <a:endParaRPr sz="180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8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175 cm</a:t>
                      </a:r>
                      <a:endParaRPr sz="180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8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Weight</a:t>
                      </a:r>
                      <a:endParaRPr sz="180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8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Numerical</a:t>
                      </a:r>
                      <a:endParaRPr sz="180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8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68 kg</a:t>
                      </a:r>
                      <a:endParaRPr sz="180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8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Country</a:t>
                      </a:r>
                      <a:endParaRPr sz="180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8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Categorical</a:t>
                      </a:r>
                      <a:endParaRPr sz="180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8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USA</a:t>
                      </a:r>
                      <a:endParaRPr sz="180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8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Discipline</a:t>
                      </a:r>
                      <a:endParaRPr sz="180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8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Categorical</a:t>
                      </a:r>
                      <a:endParaRPr sz="180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8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Swimming</a:t>
                      </a:r>
                      <a:endParaRPr sz="180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8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Team event</a:t>
                      </a:r>
                      <a:endParaRPr sz="180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8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Binary</a:t>
                      </a:r>
                      <a:endParaRPr sz="180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8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 or 1</a:t>
                      </a:r>
                      <a:endParaRPr sz="180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8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Won medal</a:t>
                      </a:r>
                      <a:endParaRPr sz="180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8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Binary target</a:t>
                      </a:r>
                      <a:endParaRPr sz="180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800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 or 1</a:t>
                      </a:r>
                      <a:endParaRPr sz="1800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h63fe0c536084dcb_0_55"/>
          <p:cNvSpPr txBox="1"/>
          <p:nvPr>
            <p:ph type="title"/>
          </p:nvPr>
        </p:nvSpPr>
        <p:spPr>
          <a:xfrm>
            <a:off x="652463" y="276575"/>
            <a:ext cx="10370100" cy="1189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Challenges</a:t>
            </a:r>
            <a:endParaRPr b="1" sz="44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1" name="Google Shape;301;h63fe0c536084dcb_0_55"/>
          <p:cNvSpPr txBox="1"/>
          <p:nvPr>
            <p:ph idx="1" type="body"/>
          </p:nvPr>
        </p:nvSpPr>
        <p:spPr>
          <a:xfrm>
            <a:off x="652476" y="1587550"/>
            <a:ext cx="11539500" cy="4523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AutoNum type="arabicPeriod"/>
            </a:pPr>
            <a:r>
              <a:rPr b="1" lang="en-US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Missing values: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Some athletes may have missing height, weight, or other information.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AutoNum type="arabicPeriod"/>
            </a:pPr>
            <a:r>
              <a:rPr b="1" lang="en-US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imbalance: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Non-medalists are expected to outnumber medalists.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AutoNum type="arabicPeriod"/>
            </a:pPr>
            <a:r>
              <a:rPr b="1" lang="en-US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Multiple events: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An athlete may compete in more than one event.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AutoNum type="arabicPeriod"/>
            </a:pPr>
            <a:r>
              <a:rPr b="1" lang="en-US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events: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Multiple teammates may receive medals for the same result.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AutoNum type="arabicPeriod"/>
            </a:pPr>
            <a:r>
              <a:rPr b="1" lang="en-US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leakage: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Medal totals or post-event information could reveal the outcome.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h63fe0c536084dcb_0_5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h63fe0c536084dcb_0_177"/>
          <p:cNvSpPr txBox="1"/>
          <p:nvPr>
            <p:ph type="title"/>
          </p:nvPr>
        </p:nvSpPr>
        <p:spPr>
          <a:xfrm>
            <a:off x="652463" y="276575"/>
            <a:ext cx="10370100" cy="1189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Related Work and Research Gap</a:t>
            </a:r>
            <a:endParaRPr b="1" sz="24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9" name="Google Shape;309;h63fe0c536084dcb_0_177"/>
          <p:cNvSpPr txBox="1"/>
          <p:nvPr>
            <p:ph idx="1" type="body"/>
          </p:nvPr>
        </p:nvSpPr>
        <p:spPr>
          <a:xfrm>
            <a:off x="654228" y="1523599"/>
            <a:ext cx="10370100" cy="764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Existing work: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0" name="Google Shape;310;h63fe0c536084dcb_0_177"/>
          <p:cNvSpPr txBox="1"/>
          <p:nvPr>
            <p:ph idx="2" type="body"/>
          </p:nvPr>
        </p:nvSpPr>
        <p:spPr>
          <a:xfrm>
            <a:off x="654213" y="2198555"/>
            <a:ext cx="10370100" cy="963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Olympic datasets are widely used to study medal counts and historical trends.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Athlete-level historical data allows researchers to examine participation and performance.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Classification models can be used to investigate factors associated with sporting outcomes.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1" name="Google Shape;311;h63fe0c536084dcb_0_177"/>
          <p:cNvSpPr txBox="1"/>
          <p:nvPr>
            <p:ph idx="3" type="body"/>
          </p:nvPr>
        </p:nvSpPr>
        <p:spPr>
          <a:xfrm>
            <a:off x="654228" y="3676113"/>
            <a:ext cx="10370100" cy="764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gap:</a:t>
            </a:r>
            <a:endParaRPr b="1" sz="20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2" name="Google Shape;312;h63fe0c536084dcb_0_177"/>
          <p:cNvSpPr txBox="1"/>
          <p:nvPr>
            <p:ph idx="4" type="body"/>
          </p:nvPr>
        </p:nvSpPr>
        <p:spPr>
          <a:xfrm>
            <a:off x="654226" y="4367347"/>
            <a:ext cx="11643000" cy="1377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47500" lnSpcReduction="10000"/>
          </a:bodyPr>
          <a:lstStyle/>
          <a:p>
            <a:pPr indent="-358299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-US" sz="4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Medal counts alone do not explain individual athlete outcomes.</a:t>
            </a:r>
            <a:endParaRPr sz="4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829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-US" sz="4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single Olympic Games dataset lacks historical performance information.</a:t>
            </a:r>
            <a:endParaRPr sz="4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829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-US" sz="4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project will explore how well basic athlete characteristics predict medal success.</a:t>
            </a:r>
            <a:endParaRPr sz="4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h63fe0c536084dcb_0_177"/>
          <p:cNvSpPr txBox="1"/>
          <p:nvPr>
            <p:ph idx="5" type="body"/>
          </p:nvPr>
        </p:nvSpPr>
        <p:spPr>
          <a:xfrm>
            <a:off x="457200" y="6356350"/>
            <a:ext cx="8153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Additional data source: </a:t>
            </a:r>
            <a:r>
              <a:rPr lang="en-US" sz="1500" u="sng"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120 Years of Olympic History — Kaggle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4" name="Google Shape;314;h63fe0c536084dcb_0_17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h63fe0c536084dcb_0_87"/>
          <p:cNvSpPr txBox="1"/>
          <p:nvPr>
            <p:ph type="title"/>
          </p:nvPr>
        </p:nvSpPr>
        <p:spPr>
          <a:xfrm>
            <a:off x="652463" y="276575"/>
            <a:ext cx="10370100" cy="1189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Baseline Models</a:t>
            </a:r>
            <a:endParaRPr b="1" sz="24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1" name="Google Shape;321;h63fe0c536084dcb_0_87"/>
          <p:cNvSpPr txBox="1"/>
          <p:nvPr>
            <p:ph idx="1" type="body"/>
          </p:nvPr>
        </p:nvSpPr>
        <p:spPr>
          <a:xfrm>
            <a:off x="652478" y="1753498"/>
            <a:ext cx="4876500" cy="764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000" u="sng">
                <a:latin typeface="Times New Roman"/>
                <a:ea typeface="Times New Roman"/>
                <a:cs typeface="Times New Roman"/>
                <a:sym typeface="Times New Roman"/>
              </a:rPr>
              <a:t>Baseline 1: Majority-Class Classifier</a:t>
            </a:r>
            <a:endParaRPr b="1" sz="20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2" name="Google Shape;322;h63fe0c536084dcb_0_87"/>
          <p:cNvSpPr txBox="1"/>
          <p:nvPr>
            <p:ph idx="2" type="body"/>
          </p:nvPr>
        </p:nvSpPr>
        <p:spPr>
          <a:xfrm>
            <a:off x="195275" y="2805325"/>
            <a:ext cx="5790900" cy="2797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93211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55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Predicts "</a:t>
            </a:r>
            <a:r>
              <a:rPr lang="en-US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Medal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" for every athlete.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3211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55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Establishes a simple reference point.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3211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55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Demonstrates why accuracy alone can be misleading.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h63fe0c536084dcb_0_87"/>
          <p:cNvSpPr txBox="1"/>
          <p:nvPr>
            <p:ph idx="3" type="body"/>
          </p:nvPr>
        </p:nvSpPr>
        <p:spPr>
          <a:xfrm>
            <a:off x="6748377" y="1753498"/>
            <a:ext cx="4876500" cy="764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000" u="sng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Baseline 2: Logistic Regression</a:t>
            </a:r>
            <a:endParaRPr b="1" sz="2000" u="sng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4" name="Google Shape;324;h63fe0c536084dcb_0_87"/>
          <p:cNvSpPr txBox="1"/>
          <p:nvPr>
            <p:ph idx="4" type="body"/>
          </p:nvPr>
        </p:nvSpPr>
        <p:spPr>
          <a:xfrm>
            <a:off x="6270474" y="2805325"/>
            <a:ext cx="5832300" cy="2736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93211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55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Uses athlete and event features.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3211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55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Estimates the probability of winning a medal.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3211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55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Provides an interpretable benchmark for complex models.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5" name="Google Shape;325;h63fe0c536084dcb_0_8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h63fe0c536084dcb_0_124"/>
          <p:cNvSpPr txBox="1"/>
          <p:nvPr>
            <p:ph type="title"/>
          </p:nvPr>
        </p:nvSpPr>
        <p:spPr>
          <a:xfrm>
            <a:off x="652463" y="-45325"/>
            <a:ext cx="10370100" cy="1189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Training and Evaluation Plan</a:t>
            </a:r>
            <a:endParaRPr b="1" sz="24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2" name="Google Shape;332;h63fe0c536084dcb_0_124"/>
          <p:cNvSpPr/>
          <p:nvPr>
            <p:ph idx="2" type="chart"/>
          </p:nvPr>
        </p:nvSpPr>
        <p:spPr>
          <a:xfrm>
            <a:off x="1230001" y="991878"/>
            <a:ext cx="9732000" cy="5514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300"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b="1" lang="en-US" sz="1300">
                <a:solidFill>
                  <a:srgbClr val="1329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PREPARATION</a:t>
            </a:r>
            <a:endParaRPr b="1" sz="1300">
              <a:solidFill>
                <a:srgbClr val="13294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300">
                <a:latin typeface="Times New Roman"/>
                <a:ea typeface="Times New Roman"/>
                <a:cs typeface="Times New Roman"/>
                <a:sym typeface="Times New Roman"/>
              </a:rPr>
              <a:t>Clean, merge, handle missing values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↓</a:t>
            </a:r>
            <a:endParaRPr b="1" sz="13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300"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b="1" lang="en-US" sz="1300">
                <a:solidFill>
                  <a:srgbClr val="1329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ENGINEERING</a:t>
            </a:r>
            <a:endParaRPr b="1" sz="1300">
              <a:solidFill>
                <a:srgbClr val="13294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300">
                <a:latin typeface="Times New Roman"/>
                <a:ea typeface="Times New Roman"/>
                <a:cs typeface="Times New Roman"/>
                <a:sym typeface="Times New Roman"/>
              </a:rPr>
              <a:t>Encode categories, scale numeric features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↓</a:t>
            </a:r>
            <a:endParaRPr b="1" sz="13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300">
                <a:latin typeface="Times New Roman"/>
                <a:ea typeface="Times New Roman"/>
                <a:cs typeface="Times New Roman"/>
                <a:sym typeface="Times New Roman"/>
              </a:rPr>
              <a:t>3. </a:t>
            </a:r>
            <a:r>
              <a:rPr b="1" lang="en-US" sz="1300">
                <a:solidFill>
                  <a:srgbClr val="1329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 / VALIDATION / TEST</a:t>
            </a:r>
            <a:endParaRPr b="1" sz="1300">
              <a:solidFill>
                <a:srgbClr val="13294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300">
                <a:latin typeface="Times New Roman"/>
                <a:ea typeface="Times New Roman"/>
                <a:cs typeface="Times New Roman"/>
                <a:sym typeface="Times New Roman"/>
              </a:rPr>
              <a:t>Prevent leakage and preserve class balance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↓</a:t>
            </a:r>
            <a:endParaRPr b="1" sz="13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300">
                <a:latin typeface="Times New Roman"/>
                <a:ea typeface="Times New Roman"/>
                <a:cs typeface="Times New Roman"/>
                <a:sym typeface="Times New Roman"/>
              </a:rPr>
              <a:t>4. </a:t>
            </a:r>
            <a:r>
              <a:rPr b="1" lang="en-US" sz="1300">
                <a:solidFill>
                  <a:srgbClr val="1329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TRAINING</a:t>
            </a:r>
            <a:endParaRPr b="1" sz="1300">
              <a:solidFill>
                <a:srgbClr val="13294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300">
                <a:latin typeface="Times New Roman"/>
                <a:ea typeface="Times New Roman"/>
                <a:cs typeface="Times New Roman"/>
                <a:sym typeface="Times New Roman"/>
              </a:rPr>
              <a:t>Dummy classifier, logistic regression, advanced models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↓</a:t>
            </a:r>
            <a:endParaRPr b="1" sz="13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300">
                <a:latin typeface="Times New Roman"/>
                <a:ea typeface="Times New Roman"/>
                <a:cs typeface="Times New Roman"/>
                <a:sym typeface="Times New Roman"/>
              </a:rPr>
              <a:t>5. </a:t>
            </a:r>
            <a:r>
              <a:rPr b="1" lang="en-US" sz="1300">
                <a:solidFill>
                  <a:srgbClr val="1329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EVALUATION</a:t>
            </a:r>
            <a:endParaRPr b="1" sz="1300">
              <a:solidFill>
                <a:srgbClr val="13294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300">
                <a:latin typeface="Times New Roman"/>
                <a:ea typeface="Times New Roman"/>
                <a:cs typeface="Times New Roman"/>
                <a:sym typeface="Times New Roman"/>
              </a:rPr>
              <a:t>PR-AUC, precision, recall, F1-score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3" name="Google Shape;333;h63fe0c536084dcb_0_12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h63fe0c536084dcb_0_133"/>
          <p:cNvSpPr txBox="1"/>
          <p:nvPr>
            <p:ph type="title"/>
          </p:nvPr>
        </p:nvSpPr>
        <p:spPr>
          <a:xfrm>
            <a:off x="685588" y="163275"/>
            <a:ext cx="10370100" cy="1189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Models and Planned Improvements</a:t>
            </a:r>
            <a:endParaRPr b="1" sz="24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0" name="Google Shape;340;h63fe0c536084dcb_0_13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1" name="Google Shape;341;h63fe0c536084dcb_0_133"/>
          <p:cNvSpPr txBox="1"/>
          <p:nvPr/>
        </p:nvSpPr>
        <p:spPr>
          <a:xfrm>
            <a:off x="1087750" y="1484350"/>
            <a:ext cx="10370100" cy="41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342" name="Google Shape;342;h63fe0c536084dcb_0_133"/>
          <p:cNvSpPr txBox="1"/>
          <p:nvPr/>
        </p:nvSpPr>
        <p:spPr>
          <a:xfrm>
            <a:off x="952500" y="4273638"/>
            <a:ext cx="9584400" cy="15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Planned Improvements:</a:t>
            </a:r>
            <a:endParaRPr b="1" sz="20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3294B"/>
              </a:buClr>
              <a:buSzPts val="1500"/>
              <a:buFont typeface="Times New Roman"/>
              <a:buChar char="●"/>
            </a:pPr>
            <a:r>
              <a:rPr lang="en-US" sz="1800">
                <a:solidFill>
                  <a:srgbClr val="1329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Engineer new features, such as</a:t>
            </a:r>
            <a:r>
              <a:rPr lang="en-US" sz="18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age</a:t>
            </a:r>
            <a:r>
              <a:rPr lang="en-US" sz="1800">
                <a:solidFill>
                  <a:srgbClr val="1329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at the Games and discipline-relative </a:t>
            </a:r>
            <a:r>
              <a:rPr lang="en-US" sz="18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physical</a:t>
            </a:r>
            <a:r>
              <a:rPr lang="en-US" sz="1800">
                <a:solidFill>
                  <a:srgbClr val="1329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measurements.</a:t>
            </a:r>
            <a:endParaRPr sz="1800">
              <a:solidFill>
                <a:srgbClr val="13294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500"/>
              <a:buFont typeface="Times New Roman"/>
              <a:buChar char="●"/>
            </a:pPr>
            <a:r>
              <a:rPr lang="en-US" sz="1800">
                <a:solidFill>
                  <a:srgbClr val="1329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Tune hyperparameters using cross-validation.</a:t>
            </a:r>
            <a:endParaRPr sz="1800">
              <a:solidFill>
                <a:srgbClr val="13294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500"/>
              <a:buFont typeface="Times New Roman"/>
              <a:buChar char="●"/>
            </a:pPr>
            <a:r>
              <a:rPr lang="en-US" sz="1800">
                <a:solidFill>
                  <a:srgbClr val="1329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Optimize classification thresholds using validation data.</a:t>
            </a:r>
            <a:endParaRPr sz="1800">
              <a:solidFill>
                <a:srgbClr val="13294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ts val="1500"/>
              <a:buFont typeface="Times New Roman"/>
              <a:buChar char="●"/>
            </a:pPr>
            <a:r>
              <a:rPr lang="en-US" sz="1800">
                <a:solidFill>
                  <a:srgbClr val="1329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Compare models to determine whether complexity improves performance.</a:t>
            </a:r>
            <a:endParaRPr sz="1800">
              <a:solidFill>
                <a:srgbClr val="13294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43" name="Google Shape;343;h63fe0c536084dcb_0_133"/>
          <p:cNvGraphicFramePr/>
          <p:nvPr/>
        </p:nvGraphicFramePr>
        <p:xfrm>
          <a:off x="952500" y="1694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{0F36FFA3-E092-4B7D-B9CA-1A651B41053F}</a:tableStyleId>
              </a:tblPr>
              <a:tblGrid>
                <a:gridCol w="5143500"/>
                <a:gridCol w="5143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Model</a:t>
                      </a:r>
                      <a:endParaRPr b="1" sz="2000">
                        <a:solidFill>
                          <a:schemeClr val="lt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Why consider it?</a:t>
                      </a:r>
                      <a:endParaRPr b="1" sz="2000">
                        <a:solidFill>
                          <a:schemeClr val="lt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BFBFB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Logistic Regression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Simple and interpretable baseline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Random Forest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Captures nonlinear relationships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XGBoost / LightGBM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Models complex feature interactions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Class-weighted models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Address class imbalance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h63fe0c536084dcb_0_188"/>
          <p:cNvSpPr txBox="1"/>
          <p:nvPr>
            <p:ph type="title"/>
          </p:nvPr>
        </p:nvSpPr>
        <p:spPr>
          <a:xfrm>
            <a:off x="652463" y="399025"/>
            <a:ext cx="10370100" cy="1189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Preliminary Progress and Next Steps</a:t>
            </a:r>
            <a:endParaRPr b="1" sz="24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h63fe0c536084dcb_0_188"/>
          <p:cNvSpPr txBox="1"/>
          <p:nvPr>
            <p:ph idx="1" type="body"/>
          </p:nvPr>
        </p:nvSpPr>
        <p:spPr>
          <a:xfrm>
            <a:off x="654228" y="1588836"/>
            <a:ext cx="10370100" cy="764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Current stage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1" name="Google Shape;351;h63fe0c536084dcb_0_188"/>
          <p:cNvSpPr txBox="1"/>
          <p:nvPr>
            <p:ph idx="2" type="body"/>
          </p:nvPr>
        </p:nvSpPr>
        <p:spPr>
          <a:xfrm>
            <a:off x="654213" y="2235868"/>
            <a:ext cx="10370100" cy="963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194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70"/>
              <a:buFont typeface="Times New Roman"/>
              <a:buChar char="●"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Research question and prediction target defined.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194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0"/>
              <a:buFont typeface="Times New Roman"/>
              <a:buChar char="●"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Initial dataset identified.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194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0"/>
              <a:buFont typeface="Times New Roman"/>
              <a:buChar char="●"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Baseline models selected.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194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0"/>
              <a:buFont typeface="Times New Roman"/>
              <a:buChar char="●"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Data challenges and evaluation approach outlined.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2" name="Google Shape;352;h63fe0c536084dcb_0_188"/>
          <p:cNvSpPr txBox="1"/>
          <p:nvPr>
            <p:ph idx="3" type="body"/>
          </p:nvPr>
        </p:nvSpPr>
        <p:spPr>
          <a:xfrm>
            <a:off x="652478" y="3698938"/>
            <a:ext cx="10370100" cy="764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Next steps</a:t>
            </a:r>
            <a:endParaRPr b="1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3" name="Google Shape;353;h63fe0c536084dcb_0_188"/>
          <p:cNvSpPr txBox="1"/>
          <p:nvPr>
            <p:ph idx="4" type="body"/>
          </p:nvPr>
        </p:nvSpPr>
        <p:spPr>
          <a:xfrm>
            <a:off x="652463" y="4463657"/>
            <a:ext cx="10370100" cy="963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-US" sz="8000">
                <a:latin typeface="Times New Roman"/>
                <a:ea typeface="Times New Roman"/>
                <a:cs typeface="Times New Roman"/>
                <a:sym typeface="Times New Roman"/>
              </a:rPr>
              <a:t>Verify dataset size, variables, and completeness.</a:t>
            </a:r>
            <a:endParaRPr sz="8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-US" sz="8000">
                <a:latin typeface="Times New Roman"/>
                <a:ea typeface="Times New Roman"/>
                <a:cs typeface="Times New Roman"/>
                <a:sym typeface="Times New Roman"/>
              </a:rPr>
              <a:t>Obtain non-medalist records if necessary.</a:t>
            </a:r>
            <a:endParaRPr sz="8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-US" sz="8000">
                <a:latin typeface="Times New Roman"/>
                <a:ea typeface="Times New Roman"/>
                <a:cs typeface="Times New Roman"/>
                <a:sym typeface="Times New Roman"/>
              </a:rPr>
              <a:t>Prepare and merge the data.</a:t>
            </a:r>
            <a:endParaRPr sz="8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-US" sz="8000">
                <a:latin typeface="Times New Roman"/>
                <a:ea typeface="Times New Roman"/>
                <a:cs typeface="Times New Roman"/>
                <a:sym typeface="Times New Roman"/>
              </a:rPr>
              <a:t>Implement and evaluate baseline models.</a:t>
            </a:r>
            <a:endParaRPr sz="8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-US" sz="8000">
                <a:latin typeface="Times New Roman"/>
                <a:ea typeface="Times New Roman"/>
                <a:cs typeface="Times New Roman"/>
                <a:sym typeface="Times New Roman"/>
              </a:rPr>
              <a:t>Compare results and analyze limitations.</a:t>
            </a:r>
            <a:endParaRPr sz="8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h63fe0c536084dcb_0_18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h63fe0c536084dcb_0_166"/>
          <p:cNvSpPr txBox="1"/>
          <p:nvPr>
            <p:ph type="title"/>
          </p:nvPr>
        </p:nvSpPr>
        <p:spPr>
          <a:xfrm>
            <a:off x="652463" y="276575"/>
            <a:ext cx="10370100" cy="1189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b="1" sz="24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1" name="Google Shape;361;h63fe0c536084dcb_0_166"/>
          <p:cNvSpPr txBox="1"/>
          <p:nvPr>
            <p:ph idx="1" type="body"/>
          </p:nvPr>
        </p:nvSpPr>
        <p:spPr>
          <a:xfrm>
            <a:off x="652463" y="1795749"/>
            <a:ext cx="10370100" cy="412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3294B"/>
              </a:buClr>
              <a:buSzPts val="2000"/>
              <a:buFont typeface="Times New Roman"/>
              <a:buAutoNum type="arabicPeriod"/>
            </a:pPr>
            <a:r>
              <a:rPr lang="en-US">
                <a:solidFill>
                  <a:srgbClr val="1329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Berkay Alan. Paris 2024 Olympics Medals Dataset. Kaggle. </a:t>
            </a:r>
            <a:endParaRPr>
              <a:solidFill>
                <a:srgbClr val="13294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3294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3294B"/>
              </a:buClr>
              <a:buSzPts val="2000"/>
              <a:buFont typeface="Times New Roman"/>
              <a:buAutoNum type="arabicPeriod"/>
            </a:pPr>
            <a:r>
              <a:rPr lang="en-US">
                <a:solidFill>
                  <a:srgbClr val="1329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120 Years of Olympic History: Athletes and Results. Kaggle. </a:t>
            </a:r>
            <a:endParaRPr>
              <a:solidFill>
                <a:srgbClr val="13294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3294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3294B"/>
              </a:buClr>
              <a:buSzPts val="2000"/>
              <a:buFont typeface="Times New Roman"/>
              <a:buAutoNum type="arabicPeriod"/>
            </a:pPr>
            <a:r>
              <a:rPr lang="en-US">
                <a:solidFill>
                  <a:srgbClr val="1329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Predicting Olympic Medal Success: Paris 2024. Preliminary Project Report, October 2026.</a:t>
            </a:r>
            <a:endParaRPr>
              <a:solidFill>
                <a:srgbClr val="13294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h63fe0c536084dcb_0_16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5"/>
          <p:cNvSpPr txBox="1"/>
          <p:nvPr>
            <p:ph type="title"/>
          </p:nvPr>
        </p:nvSpPr>
        <p:spPr>
          <a:xfrm>
            <a:off x="1610698" y="823864"/>
            <a:ext cx="8981220" cy="1107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lang="en-US"/>
              <a:t>Thank You </a:t>
            </a:r>
            <a:endParaRPr/>
          </a:p>
        </p:txBody>
      </p:sp>
      <p:sp>
        <p:nvSpPr>
          <p:cNvPr id="369" name="Google Shape;36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SMB PPT ORANGE">
      <a:dk1>
        <a:srgbClr val="000000"/>
      </a:dk1>
      <a:lt1>
        <a:srgbClr val="FFFFFF"/>
      </a:lt1>
      <a:dk2>
        <a:srgbClr val="13294B"/>
      </a:dk2>
      <a:lt2>
        <a:srgbClr val="FF5F05"/>
      </a:lt2>
      <a:accent1>
        <a:srgbClr val="0071CE"/>
      </a:accent1>
      <a:accent2>
        <a:srgbClr val="FCB316"/>
      </a:accent2>
      <a:accent3>
        <a:srgbClr val="007E8E"/>
      </a:accent3>
      <a:accent4>
        <a:srgbClr val="006230"/>
      </a:accent4>
      <a:accent5>
        <a:srgbClr val="5C0E41"/>
      </a:accent5>
      <a:accent6>
        <a:srgbClr val="7D3E13"/>
      </a:accent6>
      <a:hlink>
        <a:srgbClr val="C84113"/>
      </a:hlink>
      <a:folHlink>
        <a:srgbClr val="2159A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2022-06-14T14:37:32Z</dcterms:created>
  <dc:creator>Lin, Bryan</dc:creator>
</cp:coreProperties>
</file>